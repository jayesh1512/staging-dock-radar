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Entities</c:v>
                </c:pt>
              </c:strCache>
            </c:strRef>
          </c:tx>
          <c:spPr>
            <a:solidFill>
              <a:srgbClr val="2C7B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2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Dealer / Reseller</c:v>
                  </c:pt>
                  <c:pt idx="1">
                    <c:v>System Integrator</c:v>
                  </c:pt>
                  <c:pt idx="2">
                    <c:v>Distributor</c:v>
                  </c:pt>
                  <c:pt idx="3">
                    <c:v>Enterprise End-User</c:v>
                  </c:pt>
                  <c:pt idx="4">
                    <c:v>Govt End-User</c:v>
                  </c:pt>
                  <c:pt idx="5">
                    <c:v>Software Platform</c:v>
                  </c:pt>
                  <c:pt idx="6">
                    <c:v>DFR Provider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167</c:v>
                </c:pt>
                <c:pt idx="1">
                  <c:v>48</c:v>
                </c:pt>
                <c:pt idx="2">
                  <c:v>43</c:v>
                </c:pt>
                <c:pt idx="3">
                  <c:v>35</c:v>
                </c:pt>
                <c:pt idx="4">
                  <c:v>21</c:v>
                </c:pt>
                <c:pt idx="5">
                  <c:v>12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2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2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DC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A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DOCK ECOSYSTEM CENSUS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 — Consolidated master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entities across 19 countries — merged from Claude, Comet &amp; ChatGPT research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2026  |  FlytBase Business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2/9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1887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entities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920240" cy="11887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097280"/>
            <a:ext cx="54864" cy="1188720"/>
          </a:xfrm>
          <a:prstGeom prst="rect">
            <a:avLst/>
          </a:prstGeom>
          <a:solidFill>
            <a:srgbClr val="0E61DD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1887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3-tool corroborated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1920240" cy="118872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97280"/>
            <a:ext cx="54864" cy="118872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tool coverage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502920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108960"/>
            <a:ext cx="5029200" cy="256032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3072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(solo)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30723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47288"/>
            <a:ext cx="502920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447288"/>
            <a:ext cx="1871330" cy="256032"/>
          </a:xfrm>
          <a:prstGeom prst="rect">
            <a:avLst/>
          </a:prstGeom>
          <a:solidFill>
            <a:srgbClr val="0E61DD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3410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2-tool overlap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34107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85616"/>
            <a:ext cx="502920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785616"/>
            <a:ext cx="1257300" cy="256032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(solo)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37490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23944"/>
            <a:ext cx="502920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123944"/>
            <a:ext cx="906426" cy="256032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4087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tools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087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62272"/>
            <a:ext cx="502920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462272"/>
            <a:ext cx="818707" cy="256032"/>
          </a:xfrm>
          <a:prstGeom prst="rect">
            <a:avLst/>
          </a:prstGeom>
          <a:solidFill>
            <a:srgbClr val="8A8F9A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4425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(solo)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44256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3/9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2C7B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344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tools independently researched DJI Dock entities across 19 target countries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2C7BF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standardized to 13-column schema: company, country, role, dock models, evidence,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2C7BF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Domain-based dedup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2644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website domain + country. 4 fuzzy merges accepted, 26 false positives rejected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2C7B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224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Richest notes, union dock models, highest confidence. Source tags preserved for traceability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4/9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A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entities  |  7 countries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188720"/>
            <a:ext cx="320040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600200"/>
            <a:ext cx="3072384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1" name="Text 9"/>
          <p:cNvSpPr/>
          <p:nvPr/>
        </p:nvSpPr>
        <p:spPr>
          <a:xfrm>
            <a:off x="5952744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011680"/>
            <a:ext cx="3072384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4" name="Text 12"/>
          <p:cNvSpPr/>
          <p:nvPr/>
        </p:nvSpPr>
        <p:spPr>
          <a:xfrm>
            <a:off x="5952744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423160"/>
            <a:ext cx="256032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834640"/>
            <a:ext cx="2432304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0" name="Text 18"/>
          <p:cNvSpPr/>
          <p:nvPr/>
        </p:nvSpPr>
        <p:spPr>
          <a:xfrm>
            <a:off x="5312664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3246120"/>
            <a:ext cx="2304288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3" name="Text 21"/>
          <p:cNvSpPr/>
          <p:nvPr/>
        </p:nvSpPr>
        <p:spPr>
          <a:xfrm>
            <a:off x="5184648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657600"/>
            <a:ext cx="1664208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611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2560320" cy="32004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Droniq (DE) — SI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Solectric (DE) — Dist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2276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Flight (DE) — Dealer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2615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U-ROB (DE) — SI, 5 docks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DronePort (BE) — End-User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Heliguy (UK) — Dealer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Dron-e (IT) — SI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Instadrone (ES) — SI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77 Dealers  |  24 SIs  |  17 Distributors  |  10 Enterprise  |  8 Govt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5/9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A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entities  |  3 countries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320040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691640"/>
            <a:ext cx="2447365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1" name="Text 9"/>
          <p:cNvSpPr/>
          <p:nvPr/>
        </p:nvSpPr>
        <p:spPr>
          <a:xfrm>
            <a:off x="5327725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103120"/>
            <a:ext cx="1788459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8819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840480" cy="1828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51760"/>
            <a:ext cx="54864" cy="1828800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government end-users including police DFR programs. Drone Nerds and Advexure are the top corroborated dealers. Strongest DFR pipeline across all regions.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3840480" cy="1828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651760"/>
            <a:ext cx="54864" cy="182880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 granted first DJI Dock 2 Design Authorization in Jan 2026 — regulatory milestone signaling market opening. DroneDireto is the top corroborated dealer.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6/9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A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entities  |  6 countries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188720"/>
            <a:ext cx="320040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600200"/>
            <a:ext cx="253365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1" name="Text 9"/>
          <p:cNvSpPr/>
          <p:nvPr/>
        </p:nvSpPr>
        <p:spPr>
          <a:xfrm>
            <a:off x="541401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011680"/>
            <a:ext cx="173355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391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423160"/>
            <a:ext cx="133350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7" name="Text 15"/>
          <p:cNvSpPr/>
          <p:nvPr/>
        </p:nvSpPr>
        <p:spPr>
          <a:xfrm>
            <a:off x="421386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834640"/>
            <a:ext cx="93345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0" name="Text 18"/>
          <p:cNvSpPr/>
          <p:nvPr/>
        </p:nvSpPr>
        <p:spPr>
          <a:xfrm>
            <a:off x="381381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3246120"/>
            <a:ext cx="13335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23" name="Text 21"/>
          <p:cNvSpPr/>
          <p:nvPr/>
        </p:nvSpPr>
        <p:spPr>
          <a:xfrm>
            <a:off x="301371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143000"/>
            <a:ext cx="2560320" cy="2743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 Kennedy (AU) — Dist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Store (AU) — Dealer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276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Tech (AU) — SI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2615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SORABOT (JP) — SI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Sekido (JP) — Dealer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Aonic (SG) — SI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Enterprise end-users — highest ratio of any region (19%)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7/9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A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&amp; AFRICA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entities  |  3 countries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3200400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2635624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1" name="Text 9"/>
          <p:cNvSpPr/>
          <p:nvPr/>
        </p:nvSpPr>
        <p:spPr>
          <a:xfrm>
            <a:off x="5515984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148840"/>
            <a:ext cx="1129553" cy="201168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14" name="Text 12"/>
          <p:cNvSpPr/>
          <p:nvPr/>
        </p:nvSpPr>
        <p:spPr>
          <a:xfrm>
            <a:off x="4009913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834640"/>
            <a:ext cx="54864" cy="16459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corroboration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has zero solo discoveries — every entity found by 2+ tools. Highest conviction market in the entire census.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834640"/>
            <a:ext cx="54864" cy="164592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cluster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Drone Kings, AA Drones, SkyVision — active dealer/SI network with wildlife and mining use cases. Game reserves as enterprise end-users.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Radar — Batch 2 Census  |  8/9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distribution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64592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&amp; Resellers dominate at 49% — the DJI Dock channel is primarily retail-driven today.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Integrators (14%) are the highest-value targets for FlytBase — they build solutions on top of Dock hardware.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Govt End-Users (17%) represent direct deployment opportunities.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7B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rgbClr val="1A212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68580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95 multi-tool entities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three-source + 64 two-source leads are highest conviction. Run through Dock Crawler for web evidence scoring.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685800"/>
          </a:xfrm>
          <a:prstGeom prst="rect">
            <a:avLst/>
          </a:prstGeom>
          <a:solidFill>
            <a:srgbClr val="1A212D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40280"/>
            <a:ext cx="54864" cy="68580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role taxonomy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Claude's 55+ role variants into the 7-category clean schema for pipeline ingestion.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1A21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missing countries through Comet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Belgium, South Korea, and China are gaps in Comet coverage. Close these before finalizing.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solidFill>
            <a:srgbClr val="1A212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77640"/>
            <a:ext cx="54864" cy="685800"/>
          </a:xfrm>
          <a:prstGeom prst="rect">
            <a:avLst/>
          </a:prstGeom>
          <a:solidFill>
            <a:srgbClr val="FFAB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23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Dock Radar Step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master as a new signal source for AI deep dive and opportunity pack generation.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FlytBase BD  |  Dock Radar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DJI Dock Ecosystem Census — Batch 2 Master</dc:title>
  <dc:subject>PptxGenJS Presentation</dc:subject>
  <dc:creator>FlytBase BD</dc:creator>
  <cp:lastModifiedBy>FlytBase BD</cp:lastModifiedBy>
  <cp:revision>1</cp:revision>
  <dcterms:created xsi:type="dcterms:W3CDTF">2026-03-31T09:43:21Z</dcterms:created>
  <dcterms:modified xsi:type="dcterms:W3CDTF">2026-03-31T09:43:21Z</dcterms:modified>
</cp:coreProperties>
</file>